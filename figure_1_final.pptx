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1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D851"/>
    <a:srgbClr val="4876FF"/>
    <a:srgbClr val="D0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5" autoAdjust="0"/>
    <p:restoredTop sz="96322" autoAdjust="0"/>
  </p:normalViewPr>
  <p:slideViewPr>
    <p:cSldViewPr snapToGrid="0" snapToObjects="1">
      <p:cViewPr>
        <p:scale>
          <a:sx n="300" d="100"/>
          <a:sy n="300" d="100"/>
        </p:scale>
        <p:origin x="123" y="-67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26861-FD88-0F40-90AD-9D7ABBAA9D6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24922-361E-6C45-ABAF-E5A107C8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09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1435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257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939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3309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6935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2157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8545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537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0583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514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26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35B88E91-BA9C-4AFB-BD5C-C539ED50730E}" type="datetimeFigureOut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21/04/2026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7FB9E6A4-6F2A-4095-A4C5-31947D7A8F21}" type="slidenum">
              <a:rPr lang="en-AU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400"/>
              <a:t>‹#›</a:t>
            </a:fld>
            <a:endParaRPr lang="en-AU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ADC8BF-0FED-DAAD-5707-7BC101A116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61612" y="63500"/>
            <a:ext cx="652463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FEA1F-6DD7-E426-53E5-D45EF4CF5D4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61612" y="6611620"/>
            <a:ext cx="652463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5187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8E3654-D519-C0E0-CAD9-4C88FFBB9EE5}"/>
              </a:ext>
            </a:extLst>
          </p:cNvPr>
          <p:cNvGrpSpPr/>
          <p:nvPr/>
        </p:nvGrpSpPr>
        <p:grpSpPr>
          <a:xfrm>
            <a:off x="258871" y="1034398"/>
            <a:ext cx="8724900" cy="5312342"/>
            <a:chOff x="258871" y="1034398"/>
            <a:chExt cx="8724900" cy="5312342"/>
          </a:xfrm>
        </p:grpSpPr>
        <p:sp>
          <p:nvSpPr>
            <p:cNvPr id="3" name="Rectangle 2"/>
            <p:cNvSpPr/>
            <p:nvPr/>
          </p:nvSpPr>
          <p:spPr>
            <a:xfrm>
              <a:off x="312153" y="5294714"/>
              <a:ext cx="2608323" cy="9461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mpd="sng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26795" y="5227462"/>
              <a:ext cx="2214324" cy="1026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600" dirty="0"/>
                <a:t>= paleo-endemic lineage</a:t>
              </a:r>
            </a:p>
            <a:p>
              <a:pPr>
                <a:lnSpc>
                  <a:spcPct val="130000"/>
                </a:lnSpc>
              </a:pPr>
              <a:r>
                <a:rPr lang="en-US" sz="1600" dirty="0"/>
                <a:t>= meso-endemic lineage</a:t>
              </a:r>
            </a:p>
            <a:p>
              <a:pPr>
                <a:lnSpc>
                  <a:spcPct val="130000"/>
                </a:lnSpc>
              </a:pPr>
              <a:r>
                <a:rPr lang="en-US" sz="1600" dirty="0"/>
                <a:t>= neo-endemic lineage</a:t>
              </a:r>
            </a:p>
          </p:txBody>
        </p:sp>
        <p:sp>
          <p:nvSpPr>
            <p:cNvPr id="55" name="TextBox 40"/>
            <p:cNvSpPr txBox="1">
              <a:spLocks noChangeArrowheads="1"/>
            </p:cNvSpPr>
            <p:nvPr/>
          </p:nvSpPr>
          <p:spPr bwMode="auto">
            <a:xfrm>
              <a:off x="6881117" y="5633856"/>
              <a:ext cx="204649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9pPr>
            </a:lstStyle>
            <a:p>
              <a:r>
                <a:rPr lang="en-US" sz="2000" dirty="0">
                  <a:solidFill>
                    <a:srgbClr val="000000"/>
                  </a:solidFill>
                  <a:latin typeface="Calibri" charset="0"/>
                </a:rPr>
                <a:t>Comparison tree, range weighted</a:t>
              </a:r>
            </a:p>
          </p:txBody>
        </p:sp>
        <p:sp>
          <p:nvSpPr>
            <p:cNvPr id="62" name="TextBox 40"/>
            <p:cNvSpPr txBox="1">
              <a:spLocks noChangeArrowheads="1"/>
            </p:cNvSpPr>
            <p:nvPr/>
          </p:nvSpPr>
          <p:spPr bwMode="auto">
            <a:xfrm>
              <a:off x="3797219" y="5638854"/>
              <a:ext cx="1845834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000" dirty="0">
                  <a:solidFill>
                    <a:srgbClr val="000000"/>
                  </a:solidFill>
                  <a:latin typeface="Calibri" charset="0"/>
                </a:rPr>
                <a:t>Observed tree, range weighted</a:t>
              </a:r>
            </a:p>
          </p:txBody>
        </p:sp>
        <p:sp>
          <p:nvSpPr>
            <p:cNvPr id="99" name="TextBox 40"/>
            <p:cNvSpPr txBox="1">
              <a:spLocks noChangeArrowheads="1"/>
            </p:cNvSpPr>
            <p:nvPr/>
          </p:nvSpPr>
          <p:spPr bwMode="auto">
            <a:xfrm>
              <a:off x="1480886" y="3437814"/>
              <a:ext cx="19679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9pPr>
            </a:lstStyle>
            <a:p>
              <a:r>
                <a:rPr lang="en-US" dirty="0">
                  <a:solidFill>
                    <a:srgbClr val="000000"/>
                  </a:solidFill>
                  <a:latin typeface="Calibri" charset="0"/>
                </a:rPr>
                <a:t>Observed tree</a:t>
              </a:r>
            </a:p>
          </p:txBody>
        </p:sp>
        <p:sp>
          <p:nvSpPr>
            <p:cNvPr id="100" name="TextBox 40"/>
            <p:cNvSpPr txBox="1">
              <a:spLocks noChangeArrowheads="1"/>
            </p:cNvSpPr>
            <p:nvPr/>
          </p:nvSpPr>
          <p:spPr bwMode="auto">
            <a:xfrm>
              <a:off x="5412111" y="3448434"/>
              <a:ext cx="227488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00000"/>
                  </a:solidFill>
                  <a:latin typeface="Calibri" charset="0"/>
                </a:rPr>
                <a:t>Comparison tree</a:t>
              </a:r>
            </a:p>
          </p:txBody>
        </p:sp>
        <p:sp>
          <p:nvSpPr>
            <p:cNvPr id="102" name="Rectangle 20"/>
            <p:cNvSpPr>
              <a:spLocks noChangeArrowheads="1"/>
            </p:cNvSpPr>
            <p:nvPr/>
          </p:nvSpPr>
          <p:spPr bwMode="auto">
            <a:xfrm>
              <a:off x="3254699" y="4045343"/>
              <a:ext cx="2992436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000" b="1" dirty="0" err="1"/>
                <a:t>RWiBaLD</a:t>
              </a:r>
              <a:r>
                <a:rPr lang="en-US" sz="2000" dirty="0"/>
                <a:t> is the difference in length of branches between these two trees:</a:t>
              </a:r>
            </a:p>
          </p:txBody>
        </p:sp>
        <p:cxnSp>
          <p:nvCxnSpPr>
            <p:cNvPr id="104" name="Straight Arrow Connector 103"/>
            <p:cNvCxnSpPr>
              <a:cxnSpLocks/>
              <a:stCxn id="99" idx="2"/>
            </p:cNvCxnSpPr>
            <p:nvPr/>
          </p:nvCxnSpPr>
          <p:spPr>
            <a:xfrm>
              <a:off x="2464874" y="3899479"/>
              <a:ext cx="497496" cy="972324"/>
            </a:xfrm>
            <a:prstGeom prst="straightConnector1">
              <a:avLst/>
            </a:prstGeom>
            <a:ln w="50800" cmpd="sng">
              <a:solidFill>
                <a:schemeClr val="accent1"/>
              </a:solidFill>
              <a:prstDash val="sysDot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cxnSpLocks/>
            </p:cNvCxnSpPr>
            <p:nvPr/>
          </p:nvCxnSpPr>
          <p:spPr>
            <a:xfrm>
              <a:off x="6605911" y="3880234"/>
              <a:ext cx="0" cy="991569"/>
            </a:xfrm>
            <a:prstGeom prst="straightConnector1">
              <a:avLst/>
            </a:prstGeom>
            <a:ln w="50800" cmpd="sng">
              <a:solidFill>
                <a:schemeClr val="accent1"/>
              </a:solidFill>
              <a:prstDash val="sysDot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Group 178"/>
            <p:cNvGrpSpPr/>
            <p:nvPr/>
          </p:nvGrpSpPr>
          <p:grpSpPr>
            <a:xfrm>
              <a:off x="2962370" y="4992272"/>
              <a:ext cx="955274" cy="1212293"/>
              <a:chOff x="4173415" y="5170645"/>
              <a:chExt cx="693879" cy="880569"/>
            </a:xfrm>
          </p:grpSpPr>
          <p:cxnSp>
            <p:nvCxnSpPr>
              <p:cNvPr id="180" name="Straight Connector 179"/>
              <p:cNvCxnSpPr/>
              <p:nvPr/>
            </p:nvCxnSpPr>
            <p:spPr bwMode="auto">
              <a:xfrm flipH="1">
                <a:off x="4408138" y="5964195"/>
                <a:ext cx="57150" cy="53975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1" name="Straight Connector 180"/>
              <p:cNvCxnSpPr>
                <a:cxnSpLocks/>
              </p:cNvCxnSpPr>
              <p:nvPr/>
            </p:nvCxnSpPr>
            <p:spPr bwMode="auto">
              <a:xfrm>
                <a:off x="4475822" y="5964195"/>
                <a:ext cx="112850" cy="36218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2" name="Straight Connector 181"/>
              <p:cNvCxnSpPr>
                <a:cxnSpLocks/>
              </p:cNvCxnSpPr>
              <p:nvPr/>
            </p:nvCxnSpPr>
            <p:spPr bwMode="auto">
              <a:xfrm>
                <a:off x="4522223" y="5872333"/>
                <a:ext cx="12858" cy="113764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3" name="Straight Connector 182"/>
              <p:cNvCxnSpPr/>
              <p:nvPr/>
            </p:nvCxnSpPr>
            <p:spPr bwMode="auto">
              <a:xfrm>
                <a:off x="4396275" y="5961385"/>
                <a:ext cx="94048" cy="6718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4" name="Straight Connector 183"/>
              <p:cNvCxnSpPr>
                <a:cxnSpLocks/>
              </p:cNvCxnSpPr>
              <p:nvPr/>
            </p:nvCxnSpPr>
            <p:spPr bwMode="auto">
              <a:xfrm>
                <a:off x="4631957" y="5785993"/>
                <a:ext cx="65976" cy="101418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5" name="Straight Connector 184"/>
              <p:cNvCxnSpPr/>
              <p:nvPr/>
            </p:nvCxnSpPr>
            <p:spPr bwMode="auto">
              <a:xfrm flipH="1" flipV="1">
                <a:off x="4465288" y="5912993"/>
                <a:ext cx="56939" cy="12702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6" name="Straight Connector 185"/>
              <p:cNvCxnSpPr>
                <a:cxnSpLocks/>
              </p:cNvCxnSpPr>
              <p:nvPr/>
            </p:nvCxnSpPr>
            <p:spPr bwMode="auto">
              <a:xfrm>
                <a:off x="4422053" y="5326185"/>
                <a:ext cx="273050" cy="372856"/>
              </a:xfrm>
              <a:prstGeom prst="line">
                <a:avLst/>
              </a:prstGeom>
              <a:noFill/>
              <a:ln w="25400" cap="flat" cmpd="sng" algn="ctr">
                <a:solidFill>
                  <a:srgbClr val="FFD85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7" name="Straight Connector 186"/>
              <p:cNvCxnSpPr/>
              <p:nvPr/>
            </p:nvCxnSpPr>
            <p:spPr bwMode="auto">
              <a:xfrm>
                <a:off x="4173415" y="5170645"/>
                <a:ext cx="452726" cy="790740"/>
              </a:xfrm>
              <a:prstGeom prst="line">
                <a:avLst/>
              </a:prstGeom>
              <a:noFill/>
              <a:ln w="25400" cap="flat" cmpd="sng" algn="ctr">
                <a:solidFill>
                  <a:srgbClr val="4876FF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8" name="Straight Connector 187"/>
              <p:cNvCxnSpPr/>
              <p:nvPr/>
            </p:nvCxnSpPr>
            <p:spPr bwMode="auto">
              <a:xfrm flipH="1">
                <a:off x="4699375" y="5602930"/>
                <a:ext cx="88900" cy="101600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9" name="Straight Connector 188"/>
              <p:cNvCxnSpPr>
                <a:cxnSpLocks/>
              </p:cNvCxnSpPr>
              <p:nvPr/>
            </p:nvCxnSpPr>
            <p:spPr bwMode="auto">
              <a:xfrm flipH="1">
                <a:off x="4813319" y="5611178"/>
                <a:ext cx="53975" cy="178045"/>
              </a:xfrm>
              <a:prstGeom prst="line">
                <a:avLst/>
              </a:prstGeom>
              <a:noFill/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90" name="Straight Connector 189"/>
              <p:cNvCxnSpPr/>
              <p:nvPr/>
            </p:nvCxnSpPr>
            <p:spPr bwMode="auto">
              <a:xfrm flipH="1">
                <a:off x="4540270" y="5736889"/>
                <a:ext cx="327024" cy="31432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91" name="Straight Connector 190"/>
              <p:cNvCxnSpPr>
                <a:cxnSpLocks/>
              </p:cNvCxnSpPr>
              <p:nvPr/>
            </p:nvCxnSpPr>
            <p:spPr bwMode="auto">
              <a:xfrm>
                <a:off x="4695103" y="5699040"/>
                <a:ext cx="84718" cy="109049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192" name="Group 191"/>
            <p:cNvGrpSpPr/>
            <p:nvPr/>
          </p:nvGrpSpPr>
          <p:grpSpPr>
            <a:xfrm>
              <a:off x="6269812" y="5148911"/>
              <a:ext cx="648459" cy="1011692"/>
              <a:chOff x="5959849" y="5430906"/>
              <a:chExt cx="471019" cy="734859"/>
            </a:xfrm>
          </p:grpSpPr>
          <p:cxnSp>
            <p:nvCxnSpPr>
              <p:cNvPr id="204" name="Straight Connector 203"/>
              <p:cNvCxnSpPr>
                <a:cxnSpLocks/>
              </p:cNvCxnSpPr>
              <p:nvPr/>
            </p:nvCxnSpPr>
            <p:spPr bwMode="auto">
              <a:xfrm>
                <a:off x="5984102" y="5430906"/>
                <a:ext cx="274575" cy="384981"/>
              </a:xfrm>
              <a:prstGeom prst="line">
                <a:avLst/>
              </a:prstGeom>
              <a:noFill/>
              <a:ln w="25400" cap="flat" cmpd="sng" algn="ctr">
                <a:solidFill>
                  <a:srgbClr val="FFD85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93" name="Straight Connector 192"/>
              <p:cNvCxnSpPr>
                <a:cxnSpLocks/>
              </p:cNvCxnSpPr>
              <p:nvPr/>
            </p:nvCxnSpPr>
            <p:spPr bwMode="auto">
              <a:xfrm>
                <a:off x="6022881" y="5691993"/>
                <a:ext cx="179079" cy="380185"/>
              </a:xfrm>
              <a:prstGeom prst="line">
                <a:avLst/>
              </a:prstGeom>
              <a:noFill/>
              <a:ln w="25400" cap="flat" cmpd="sng" algn="ctr">
                <a:solidFill>
                  <a:srgbClr val="4876FF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94" name="Straight Connector 193"/>
              <p:cNvCxnSpPr/>
              <p:nvPr/>
            </p:nvCxnSpPr>
            <p:spPr bwMode="auto">
              <a:xfrm flipH="1">
                <a:off x="6376893" y="5501807"/>
                <a:ext cx="53975" cy="398999"/>
              </a:xfrm>
              <a:prstGeom prst="line">
                <a:avLst/>
              </a:prstGeom>
              <a:noFill/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95" name="Straight Connector 194"/>
              <p:cNvCxnSpPr/>
              <p:nvPr/>
            </p:nvCxnSpPr>
            <p:spPr bwMode="auto">
              <a:xfrm flipH="1">
                <a:off x="5971712" y="6078746"/>
                <a:ext cx="57150" cy="53975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96" name="Straight Connector 195"/>
              <p:cNvCxnSpPr>
                <a:cxnSpLocks/>
              </p:cNvCxnSpPr>
              <p:nvPr/>
            </p:nvCxnSpPr>
            <p:spPr bwMode="auto">
              <a:xfrm>
                <a:off x="6046905" y="6080906"/>
                <a:ext cx="109275" cy="26963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97" name="Straight Connector 196"/>
              <p:cNvCxnSpPr>
                <a:cxnSpLocks/>
              </p:cNvCxnSpPr>
              <p:nvPr/>
            </p:nvCxnSpPr>
            <p:spPr bwMode="auto">
              <a:xfrm>
                <a:off x="6085797" y="5986884"/>
                <a:ext cx="4" cy="111051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98" name="Straight Connector 197"/>
              <p:cNvCxnSpPr/>
              <p:nvPr/>
            </p:nvCxnSpPr>
            <p:spPr bwMode="auto">
              <a:xfrm>
                <a:off x="5959849" y="6075936"/>
                <a:ext cx="94048" cy="6718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99" name="Straight Connector 198"/>
              <p:cNvCxnSpPr>
                <a:cxnSpLocks/>
              </p:cNvCxnSpPr>
              <p:nvPr/>
            </p:nvCxnSpPr>
            <p:spPr bwMode="auto">
              <a:xfrm>
                <a:off x="6195531" y="5900544"/>
                <a:ext cx="57758" cy="108059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00" name="Straight Connector 199"/>
              <p:cNvCxnSpPr/>
              <p:nvPr/>
            </p:nvCxnSpPr>
            <p:spPr bwMode="auto">
              <a:xfrm flipH="1" flipV="1">
                <a:off x="6028862" y="6027544"/>
                <a:ext cx="56939" cy="12702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01" name="Straight Connector 200"/>
              <p:cNvCxnSpPr>
                <a:cxnSpLocks/>
              </p:cNvCxnSpPr>
              <p:nvPr/>
            </p:nvCxnSpPr>
            <p:spPr bwMode="auto">
              <a:xfrm flipH="1">
                <a:off x="6264065" y="5715899"/>
                <a:ext cx="87784" cy="108899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02" name="Straight Connector 201"/>
              <p:cNvCxnSpPr/>
              <p:nvPr/>
            </p:nvCxnSpPr>
            <p:spPr bwMode="auto">
              <a:xfrm flipH="1">
                <a:off x="6100867" y="5851440"/>
                <a:ext cx="327024" cy="31432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03" name="Straight Connector 202"/>
              <p:cNvCxnSpPr>
                <a:cxnSpLocks/>
              </p:cNvCxnSpPr>
              <p:nvPr/>
            </p:nvCxnSpPr>
            <p:spPr bwMode="auto">
              <a:xfrm>
                <a:off x="6258677" y="5813591"/>
                <a:ext cx="78972" cy="122116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</p:grpSp>
        <p:sp>
          <p:nvSpPr>
            <p:cNvPr id="87" name="Oval 86"/>
            <p:cNvSpPr/>
            <p:nvPr/>
          </p:nvSpPr>
          <p:spPr bwMode="auto">
            <a:xfrm>
              <a:off x="435942" y="5344341"/>
              <a:ext cx="244475" cy="239907"/>
            </a:xfrm>
            <a:prstGeom prst="ellipse">
              <a:avLst/>
            </a:prstGeom>
            <a:solidFill>
              <a:srgbClr val="4876FF"/>
            </a:solidFill>
            <a:ln w="9525" cap="flat" cmpd="sng" algn="ctr">
              <a:solidFill>
                <a:schemeClr val="tx1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8" name="TextBox 40">
              <a:extLst>
                <a:ext uri="{FF2B5EF4-FFF2-40B4-BE49-F238E27FC236}">
                  <a16:creationId xmlns:a16="http://schemas.microsoft.com/office/drawing/2014/main" id="{D489C17D-941D-3CE7-6DC1-944E810487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2111" y="3448434"/>
              <a:ext cx="227488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charset="0"/>
                </a:defRPr>
              </a:lvl9pPr>
            </a:lstStyle>
            <a:p>
              <a:r>
                <a:rPr lang="en-US" dirty="0">
                  <a:solidFill>
                    <a:srgbClr val="000000"/>
                  </a:solidFill>
                  <a:latin typeface="Calibri" charset="0"/>
                </a:rPr>
                <a:t>Comparison tree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25BE584-8AAF-53F2-7DBD-52F10B5750A0}"/>
                </a:ext>
              </a:extLst>
            </p:cNvPr>
            <p:cNvCxnSpPr/>
            <p:nvPr/>
          </p:nvCxnSpPr>
          <p:spPr>
            <a:xfrm>
              <a:off x="258871" y="3848376"/>
              <a:ext cx="8724900" cy="0"/>
            </a:xfrm>
            <a:prstGeom prst="line">
              <a:avLst/>
            </a:prstGeom>
            <a:ln w="3175" cmpd="sng"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E391AC5-10B2-10C1-0743-288B405F8374}"/>
                </a:ext>
              </a:extLst>
            </p:cNvPr>
            <p:cNvGrpSpPr/>
            <p:nvPr/>
          </p:nvGrpSpPr>
          <p:grpSpPr>
            <a:xfrm>
              <a:off x="4799116" y="1034398"/>
              <a:ext cx="4137245" cy="2414036"/>
              <a:chOff x="4799116" y="1034398"/>
              <a:chExt cx="4137245" cy="2414036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0BBE7EB-4234-CCA3-03F9-0B93A9DC675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873779" y="2461737"/>
                <a:ext cx="353791" cy="334876"/>
              </a:xfrm>
              <a:prstGeom prst="line">
                <a:avLst/>
              </a:prstGeom>
              <a:noFill/>
              <a:ln w="38100" cap="flat" cmpd="sng" algn="ctr">
                <a:solidFill>
                  <a:srgbClr val="4876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8C9757B-AFF7-E364-CD5D-FB4C495416D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205610" y="1356351"/>
                <a:ext cx="406800" cy="324502"/>
              </a:xfrm>
              <a:prstGeom prst="line">
                <a:avLst/>
              </a:prstGeom>
              <a:noFill/>
              <a:ln w="38100" cap="flat" cmpd="sng" algn="ctr">
                <a:solidFill>
                  <a:srgbClr val="FFD85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309E451-367D-265E-88CF-06319FA703AB}"/>
                  </a:ext>
                </a:extLst>
              </p:cNvPr>
              <p:cNvCxnSpPr>
                <a:cxnSpLocks/>
                <a:stCxn id="81" idx="4"/>
              </p:cNvCxnSpPr>
              <p:nvPr/>
            </p:nvCxnSpPr>
            <p:spPr bwMode="auto">
              <a:xfrm flipH="1">
                <a:off x="7612410" y="1248711"/>
                <a:ext cx="102882" cy="436011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17EDDFEA-E599-0162-DC63-364DFBBB9E2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19740" y="1359399"/>
                <a:ext cx="408142" cy="314771"/>
              </a:xfrm>
              <a:prstGeom prst="line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34E00834-C398-848D-99CA-7037C93F592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6296836" y="1526644"/>
                <a:ext cx="526222" cy="1193923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F052CC7-8DEF-ECD5-5073-857EDFD3F37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48818" y="2273684"/>
                <a:ext cx="1095145" cy="894712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3035EBC8-2531-E54F-24C6-1A815F3EF77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4921354" y="2270248"/>
                <a:ext cx="827464" cy="3436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0821C7C-333A-C78B-7107-3184AEC065B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289256" y="1999774"/>
                <a:ext cx="397743" cy="363363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D63800AE-E7C8-6092-EFA9-70DA992FB054}"/>
                  </a:ext>
                </a:extLst>
              </p:cNvPr>
              <p:cNvCxnSpPr>
                <a:cxnSpLocks/>
                <a:stCxn id="80" idx="3"/>
                <a:endCxn id="58" idx="0"/>
              </p:cNvCxnSpPr>
              <p:nvPr/>
            </p:nvCxnSpPr>
            <p:spPr bwMode="auto">
              <a:xfrm flipH="1">
                <a:off x="6549555" y="1384683"/>
                <a:ext cx="2178134" cy="2063751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0A50068-0DB8-0FEC-098A-E4FA35D545E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602357" y="1677437"/>
                <a:ext cx="401566" cy="376637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7D7A5816-543C-7407-6535-92E27613294B}"/>
                  </a:ext>
                </a:extLst>
              </p:cNvPr>
              <p:cNvCxnSpPr>
                <a:cxnSpLocks/>
                <a:stCxn id="75" idx="5"/>
              </p:cNvCxnSpPr>
              <p:nvPr/>
            </p:nvCxnSpPr>
            <p:spPr bwMode="auto">
              <a:xfrm>
                <a:off x="6152889" y="1680853"/>
                <a:ext cx="375559" cy="529639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F67509C2-C653-7E51-6B32-F695DE81435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5465327" y="1587494"/>
                <a:ext cx="283491" cy="686190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B1C272AA-F9AE-C0C2-CFC3-52E094A741FF}"/>
                  </a:ext>
                </a:extLst>
              </p:cNvPr>
              <p:cNvSpPr/>
              <p:nvPr/>
            </p:nvSpPr>
            <p:spPr bwMode="auto">
              <a:xfrm>
                <a:off x="5945571" y="1497926"/>
                <a:ext cx="242888" cy="214312"/>
              </a:xfrm>
              <a:prstGeom prst="ellipse">
                <a:avLst/>
              </a:prstGeom>
              <a:solidFill>
                <a:srgbClr val="BFBFBF"/>
              </a:solidFill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D3092928-B9B0-309D-2741-A9FFE71EE247}"/>
                  </a:ext>
                </a:extLst>
              </p:cNvPr>
              <p:cNvSpPr/>
              <p:nvPr/>
            </p:nvSpPr>
            <p:spPr bwMode="auto">
              <a:xfrm>
                <a:off x="6673796" y="1436934"/>
                <a:ext cx="244475" cy="215900"/>
              </a:xfrm>
              <a:prstGeom prst="ellipse">
                <a:avLst/>
              </a:prstGeom>
              <a:solidFill>
                <a:srgbClr val="BFBFBF"/>
              </a:solidFill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1D59BD7-F253-4649-B10F-ADD6376B6A2D}"/>
                  </a:ext>
                </a:extLst>
              </p:cNvPr>
              <p:cNvSpPr/>
              <p:nvPr/>
            </p:nvSpPr>
            <p:spPr bwMode="auto">
              <a:xfrm>
                <a:off x="5343089" y="1490747"/>
                <a:ext cx="244475" cy="215900"/>
              </a:xfrm>
              <a:prstGeom prst="ellipse">
                <a:avLst/>
              </a:prstGeom>
              <a:solidFill>
                <a:srgbClr val="BFBFBF"/>
              </a:solidFill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D75FC2D-240F-7046-DE5F-83FBC8609A84}"/>
                  </a:ext>
                </a:extLst>
              </p:cNvPr>
              <p:cNvSpPr/>
              <p:nvPr/>
            </p:nvSpPr>
            <p:spPr bwMode="auto">
              <a:xfrm>
                <a:off x="7079094" y="1829979"/>
                <a:ext cx="244475" cy="214312"/>
              </a:xfrm>
              <a:prstGeom prst="ellipse">
                <a:avLst/>
              </a:prstGeom>
              <a:solidFill>
                <a:srgbClr val="BFBFBF"/>
              </a:solidFill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D798CEE7-1EBB-BEB2-CC81-995A2B353932}"/>
                  </a:ext>
                </a:extLst>
              </p:cNvPr>
              <p:cNvSpPr/>
              <p:nvPr/>
            </p:nvSpPr>
            <p:spPr bwMode="auto">
              <a:xfrm>
                <a:off x="4799116" y="2156452"/>
                <a:ext cx="244475" cy="215900"/>
              </a:xfrm>
              <a:prstGeom prst="ellipse">
                <a:avLst/>
              </a:prstGeom>
              <a:solidFill>
                <a:srgbClr val="BFBFBF"/>
              </a:solidFill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773FC30D-506A-31AA-C067-BA6089B88CF0}"/>
                  </a:ext>
                </a:extLst>
              </p:cNvPr>
              <p:cNvSpPr/>
              <p:nvPr/>
            </p:nvSpPr>
            <p:spPr bwMode="auto">
              <a:xfrm>
                <a:off x="8691886" y="1201755"/>
                <a:ext cx="244475" cy="214313"/>
              </a:xfrm>
              <a:prstGeom prst="ellipse">
                <a:avLst/>
              </a:prstGeom>
              <a:solidFill>
                <a:srgbClr val="BFBFBF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A2A91708-0682-21D3-6D91-5E5AD9EB8B1C}"/>
                  </a:ext>
                </a:extLst>
              </p:cNvPr>
              <p:cNvSpPr/>
              <p:nvPr/>
            </p:nvSpPr>
            <p:spPr bwMode="auto">
              <a:xfrm>
                <a:off x="7593054" y="1034398"/>
                <a:ext cx="244475" cy="214313"/>
              </a:xfrm>
              <a:prstGeom prst="ellipse">
                <a:avLst/>
              </a:prstGeom>
              <a:solidFill>
                <a:srgbClr val="BFBFBF"/>
              </a:solidFill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AF490CDA-5185-3951-9BB2-4B826611A99D}"/>
                  </a:ext>
                </a:extLst>
              </p:cNvPr>
              <p:cNvSpPr/>
              <p:nvPr/>
            </p:nvSpPr>
            <p:spPr bwMode="auto">
              <a:xfrm>
                <a:off x="6674809" y="2285238"/>
                <a:ext cx="244475" cy="214312"/>
              </a:xfrm>
              <a:prstGeom prst="ellipse">
                <a:avLst/>
              </a:prstGeom>
              <a:solidFill>
                <a:srgbClr val="4876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507DEBC8-B50D-27BC-9934-394EC450F948}"/>
                  </a:ext>
                </a:extLst>
              </p:cNvPr>
              <p:cNvSpPr/>
              <p:nvPr/>
            </p:nvSpPr>
            <p:spPr bwMode="auto">
              <a:xfrm>
                <a:off x="7019579" y="1182610"/>
                <a:ext cx="244475" cy="214312"/>
              </a:xfrm>
              <a:prstGeom prst="ellipse">
                <a:avLst/>
              </a:prstGeom>
              <a:solidFill>
                <a:srgbClr val="FFD851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A153C2FF-8C79-F57A-D299-150E03B7209F}"/>
                  </a:ext>
                </a:extLst>
              </p:cNvPr>
              <p:cNvSpPr/>
              <p:nvPr/>
            </p:nvSpPr>
            <p:spPr bwMode="auto">
              <a:xfrm>
                <a:off x="7884673" y="1213758"/>
                <a:ext cx="244475" cy="227142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C262F18-CB2F-114B-92DC-B9DD4F6F7F0D}"/>
                </a:ext>
              </a:extLst>
            </p:cNvPr>
            <p:cNvGrpSpPr/>
            <p:nvPr/>
          </p:nvGrpSpPr>
          <p:grpSpPr>
            <a:xfrm>
              <a:off x="261832" y="1140209"/>
              <a:ext cx="4773742" cy="2308225"/>
              <a:chOff x="261832" y="1140209"/>
              <a:chExt cx="4773742" cy="2308225"/>
            </a:xfrm>
          </p:grpSpPr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BC39B530-24A8-E8F7-984A-6E891BEF43A5}"/>
                  </a:ext>
                </a:extLst>
              </p:cNvPr>
              <p:cNvCxnSpPr>
                <a:cxnSpLocks/>
                <a:stCxn id="160" idx="5"/>
              </p:cNvCxnSpPr>
              <p:nvPr/>
            </p:nvCxnSpPr>
            <p:spPr bwMode="auto">
              <a:xfrm>
                <a:off x="2035658" y="2290831"/>
                <a:ext cx="929687" cy="787000"/>
              </a:xfrm>
              <a:prstGeom prst="line">
                <a:avLst/>
              </a:prstGeom>
              <a:noFill/>
              <a:ln w="38100" cap="flat" cmpd="sng" algn="ctr">
                <a:solidFill>
                  <a:srgbClr val="4876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6F341871-7CF8-2E15-E5C9-47C7B36473A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80049" y="1679517"/>
                <a:ext cx="441596" cy="364774"/>
              </a:xfrm>
              <a:prstGeom prst="line">
                <a:avLst/>
              </a:prstGeom>
              <a:noFill/>
              <a:ln w="38100" cap="flat" cmpd="sng" algn="ctr">
                <a:solidFill>
                  <a:srgbClr val="FFD85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173E7470-5624-50FD-22D1-D8C458C6542A}"/>
                  </a:ext>
                </a:extLst>
              </p:cNvPr>
              <p:cNvCxnSpPr/>
              <p:nvPr/>
            </p:nvCxnSpPr>
            <p:spPr bwMode="auto">
              <a:xfrm>
                <a:off x="4556668" y="1366908"/>
                <a:ext cx="146050" cy="119062"/>
              </a:xfrm>
              <a:prstGeom prst="line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22856F9D-C761-7D88-9EFF-89BC5AE037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09837" y="1713297"/>
                <a:ext cx="174295" cy="206688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6C87DC60-DB5E-A56F-BC47-A03C1704ECAB}"/>
                  </a:ext>
                </a:extLst>
              </p:cNvPr>
              <p:cNvCxnSpPr/>
              <p:nvPr/>
            </p:nvCxnSpPr>
            <p:spPr bwMode="auto">
              <a:xfrm>
                <a:off x="382482" y="1684722"/>
                <a:ext cx="2257425" cy="1668462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E291424E-D861-8146-5AA7-1AC0D2F468E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2541482" y="2398545"/>
                <a:ext cx="1158875" cy="1049889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DFF169DA-E446-46E7-DBBC-A3F8270F0586}"/>
                  </a:ext>
                </a:extLst>
              </p:cNvPr>
              <p:cNvCxnSpPr/>
              <p:nvPr/>
            </p:nvCxnSpPr>
            <p:spPr bwMode="auto">
              <a:xfrm rot="5400000">
                <a:off x="1363557" y="1700597"/>
                <a:ext cx="711200" cy="692150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B79CDABF-F7A2-A7C7-E7C7-2E125BC7A354}"/>
                  </a:ext>
                </a:extLst>
              </p:cNvPr>
              <p:cNvCxnSpPr/>
              <p:nvPr/>
            </p:nvCxnSpPr>
            <p:spPr bwMode="auto">
              <a:xfrm>
                <a:off x="1641370" y="1905384"/>
                <a:ext cx="119062" cy="112713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231A8FBD-1FDD-A8CA-1556-DC42003D161C}"/>
                  </a:ext>
                </a:extLst>
              </p:cNvPr>
              <p:cNvCxnSpPr>
                <a:cxnSpLocks/>
                <a:stCxn id="155" idx="5"/>
              </p:cNvCxnSpPr>
              <p:nvPr/>
            </p:nvCxnSpPr>
            <p:spPr bwMode="auto">
              <a:xfrm>
                <a:off x="2929542" y="2445499"/>
                <a:ext cx="366358" cy="321782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3A6169C-0E9B-B723-284A-6CA867CE2F5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695020" y="1224461"/>
                <a:ext cx="288037" cy="258648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B412B170-9AB5-1ED6-84F9-68CFEF99A16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663192" y="1462082"/>
                <a:ext cx="1056944" cy="970595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6BD59732-699D-9B98-7718-07268CE9311D}"/>
                  </a:ext>
                </a:extLst>
              </p:cNvPr>
              <p:cNvSpPr/>
              <p:nvPr/>
            </p:nvSpPr>
            <p:spPr bwMode="auto">
              <a:xfrm>
                <a:off x="261832" y="1576772"/>
                <a:ext cx="242888" cy="21431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47F3BA89-68D1-A28B-7CB0-FFCE9D99E012}"/>
                  </a:ext>
                </a:extLst>
              </p:cNvPr>
              <p:cNvSpPr/>
              <p:nvPr/>
            </p:nvSpPr>
            <p:spPr bwMode="auto">
              <a:xfrm>
                <a:off x="785707" y="1581534"/>
                <a:ext cx="244475" cy="2159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8B98CCD1-31EE-8314-4111-19C891CC0283}"/>
                  </a:ext>
                </a:extLst>
              </p:cNvPr>
              <p:cNvSpPr/>
              <p:nvPr/>
            </p:nvSpPr>
            <p:spPr bwMode="auto">
              <a:xfrm>
                <a:off x="1916007" y="1619634"/>
                <a:ext cx="244475" cy="2159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4AB37202-1628-AFC7-972F-0BAB0AC6F660}"/>
                  </a:ext>
                </a:extLst>
              </p:cNvPr>
              <p:cNvSpPr/>
              <p:nvPr/>
            </p:nvSpPr>
            <p:spPr bwMode="auto">
              <a:xfrm>
                <a:off x="2720870" y="2262572"/>
                <a:ext cx="244475" cy="21431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D78D2040-61EC-588E-0B5C-9B1CC06ABFB1}"/>
                  </a:ext>
                </a:extLst>
              </p:cNvPr>
              <p:cNvSpPr/>
              <p:nvPr/>
            </p:nvSpPr>
            <p:spPr bwMode="auto">
              <a:xfrm>
                <a:off x="1471507" y="1733934"/>
                <a:ext cx="244475" cy="2159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BD5D3534-3FF5-20DC-3CAB-B0836A0FD597}"/>
                  </a:ext>
                </a:extLst>
              </p:cNvPr>
              <p:cNvSpPr/>
              <p:nvPr/>
            </p:nvSpPr>
            <p:spPr bwMode="auto">
              <a:xfrm>
                <a:off x="4791099" y="1140209"/>
                <a:ext cx="244475" cy="21431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71ED4626-B9F2-17AD-B1FB-6B815FADFE2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221596" y="1827597"/>
                <a:ext cx="189836" cy="219078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CF705503-6A09-57E8-7E75-05DF9979002E}"/>
                  </a:ext>
                </a:extLst>
              </p:cNvPr>
              <p:cNvSpPr/>
              <p:nvPr/>
            </p:nvSpPr>
            <p:spPr bwMode="auto">
              <a:xfrm>
                <a:off x="3317770" y="1699009"/>
                <a:ext cx="244475" cy="21431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A744DA5B-7110-7C95-9147-91CB5EE35472}"/>
                  </a:ext>
                </a:extLst>
              </p:cNvPr>
              <p:cNvSpPr/>
              <p:nvPr/>
            </p:nvSpPr>
            <p:spPr bwMode="auto">
              <a:xfrm>
                <a:off x="1826986" y="2107904"/>
                <a:ext cx="244475" cy="214312"/>
              </a:xfrm>
              <a:prstGeom prst="ellipse">
                <a:avLst/>
              </a:prstGeom>
              <a:solidFill>
                <a:srgbClr val="4876FF"/>
              </a:solidFill>
              <a:ln w="9525" cap="flat" cmpd="sng" algn="ctr">
                <a:solidFill>
                  <a:schemeClr val="tx1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9C8F8EB3-AAC4-C526-27F5-24085CCFB900}"/>
                  </a:ext>
                </a:extLst>
              </p:cNvPr>
              <p:cNvSpPr/>
              <p:nvPr/>
            </p:nvSpPr>
            <p:spPr bwMode="auto">
              <a:xfrm>
                <a:off x="2607198" y="1500268"/>
                <a:ext cx="244475" cy="214312"/>
              </a:xfrm>
              <a:prstGeom prst="ellipse">
                <a:avLst/>
              </a:prstGeom>
              <a:solidFill>
                <a:srgbClr val="FFD851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4E131D4C-44AD-FFBE-F988-BA8C1FA2399F}"/>
                  </a:ext>
                </a:extLst>
              </p:cNvPr>
              <p:cNvSpPr/>
              <p:nvPr/>
            </p:nvSpPr>
            <p:spPr bwMode="auto">
              <a:xfrm>
                <a:off x="4365078" y="1180073"/>
                <a:ext cx="244475" cy="2243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ＭＳ Ｐゴシック" charset="0"/>
                  <a:cs typeface="ＭＳ Ｐゴシック" charset="0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A4FF80BB-A5CD-C1B7-14E0-77CBF181BD6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08674" y="2042280"/>
                <a:ext cx="465472" cy="390397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4BDF9AF-6B94-0113-7330-4E9D0E0D6761}"/>
              </a:ext>
            </a:extLst>
          </p:cNvPr>
          <p:cNvSpPr/>
          <p:nvPr/>
        </p:nvSpPr>
        <p:spPr>
          <a:xfrm>
            <a:off x="3966633" y="71967"/>
            <a:ext cx="1498693" cy="224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C6129-FED1-9560-6249-5B6E1D70A491}"/>
              </a:ext>
            </a:extLst>
          </p:cNvPr>
          <p:cNvSpPr/>
          <p:nvPr/>
        </p:nvSpPr>
        <p:spPr>
          <a:xfrm>
            <a:off x="3797219" y="6604000"/>
            <a:ext cx="1896614" cy="224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AE94B2-3EE4-0D37-3BAF-2096ACC3FC5A}"/>
              </a:ext>
            </a:extLst>
          </p:cNvPr>
          <p:cNvSpPr/>
          <p:nvPr/>
        </p:nvSpPr>
        <p:spPr bwMode="auto">
          <a:xfrm>
            <a:off x="435942" y="5649732"/>
            <a:ext cx="244475" cy="239907"/>
          </a:xfrm>
          <a:prstGeom prst="ellipse">
            <a:avLst/>
          </a:prstGeom>
          <a:solidFill>
            <a:srgbClr val="FFD851"/>
          </a:solidFill>
          <a:ln w="9525" cap="flat" cmpd="sng" algn="ctr">
            <a:solidFill>
              <a:schemeClr val="tx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4F5A3A-BDDB-6B0E-3FF0-3C9A536114DC}"/>
              </a:ext>
            </a:extLst>
          </p:cNvPr>
          <p:cNvSpPr/>
          <p:nvPr/>
        </p:nvSpPr>
        <p:spPr bwMode="auto">
          <a:xfrm>
            <a:off x="435942" y="5955679"/>
            <a:ext cx="244475" cy="239907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57422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38</Words>
  <Application>Microsoft Office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Brent Mishler</dc:creator>
  <cp:lastModifiedBy>Knerr, Nunzio (NCMI, Black Mountain)</cp:lastModifiedBy>
  <cp:revision>49</cp:revision>
  <dcterms:created xsi:type="dcterms:W3CDTF">2017-06-27T22:54:31Z</dcterms:created>
  <dcterms:modified xsi:type="dcterms:W3CDTF">2026-04-21T00:33:15Z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ad370f1-5840-4c36-bb65-89acaaf849ca_Enabled">
    <vt:lpwstr>true</vt:lpwstr>
  </property>
  <property fmtid="{D5CDD505-2E9C-101B-9397-08002B2CF9AE}" pid="3" name="MSIP_Label_0ad370f1-5840-4c36-bb65-89acaaf849ca_SetDate">
    <vt:lpwstr>2026-04-20T02:44:37Z</vt:lpwstr>
  </property>
  <property fmtid="{D5CDD505-2E9C-101B-9397-08002B2CF9AE}" pid="4" name="MSIP_Label_0ad370f1-5840-4c36-bb65-89acaaf849ca_Method">
    <vt:lpwstr>Privileged</vt:lpwstr>
  </property>
  <property fmtid="{D5CDD505-2E9C-101B-9397-08002B2CF9AE}" pid="5" name="MSIP_Label_0ad370f1-5840-4c36-bb65-89acaaf849ca_Name">
    <vt:lpwstr>OFFICIAL</vt:lpwstr>
  </property>
  <property fmtid="{D5CDD505-2E9C-101B-9397-08002B2CF9AE}" pid="6" name="MSIP_Label_0ad370f1-5840-4c36-bb65-89acaaf849ca_SiteId">
    <vt:lpwstr>0fe05593-19ac-4f98-adbf-0375fce7f160</vt:lpwstr>
  </property>
  <property fmtid="{D5CDD505-2E9C-101B-9397-08002B2CF9AE}" pid="7" name="MSIP_Label_0ad370f1-5840-4c36-bb65-89acaaf849ca_ActionId">
    <vt:lpwstr>958b7cac-789a-492b-b2f8-85faa3baaf14</vt:lpwstr>
  </property>
  <property fmtid="{D5CDD505-2E9C-101B-9397-08002B2CF9AE}" pid="8" name="MSIP_Label_0ad370f1-5840-4c36-bb65-89acaaf849ca_ContentBits">
    <vt:lpwstr>3</vt:lpwstr>
  </property>
  <property fmtid="{D5CDD505-2E9C-101B-9397-08002B2CF9AE}" pid="9" name="MSIP_Label_0ad370f1-5840-4c36-bb65-89acaaf849ca_Tag">
    <vt:lpwstr>10, 0, 1, 1</vt:lpwstr>
  </property>
  <property fmtid="{D5CDD505-2E9C-101B-9397-08002B2CF9AE}" pid="10" name="ClassificationContentMarkingFooterLocations">
    <vt:lpwstr>2_Office Theme:10</vt:lpwstr>
  </property>
  <property fmtid="{D5CDD505-2E9C-101B-9397-08002B2CF9AE}" pid="11" name="ClassificationContentMarkingFooterText">
    <vt:lpwstr>OFFICIAL</vt:lpwstr>
  </property>
  <property fmtid="{D5CDD505-2E9C-101B-9397-08002B2CF9AE}" pid="12" name="ClassificationContentMarkingHeaderLocations">
    <vt:lpwstr>2_Office Theme:9</vt:lpwstr>
  </property>
  <property fmtid="{D5CDD505-2E9C-101B-9397-08002B2CF9AE}" pid="13" name="ClassificationContentMarkingHeaderText">
    <vt:lpwstr>OFFICIAL</vt:lpwstr>
  </property>
</Properties>
</file>